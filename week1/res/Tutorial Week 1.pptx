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iqaJIMLB1vWLPiAmeHQG7C0nZC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F5F734-12E6-48DD-A3F7-042E4C066137}">
  <a:tblStyle styleId="{ECF5F734-12E6-48DD-A3F7-042E4C0661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f4fe5ea4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bf4fe5ea4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4fe5ea4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f4fe5ea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f4fe5ea4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bf4fe5ea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f4fe5ea4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f4fe5ea4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2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2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2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944225" y="1795100"/>
            <a:ext cx="67833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sz="4200">
                <a:latin typeface="Raleway"/>
                <a:ea typeface="Raleway"/>
                <a:cs typeface="Raleway"/>
                <a:sym typeface="Raleway"/>
              </a:rPr>
              <a:t>Week 1: Tutorial </a:t>
            </a:r>
            <a:endParaRPr b="1" sz="4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sz="4200">
                <a:latin typeface="Raleway"/>
                <a:ea typeface="Raleway"/>
                <a:cs typeface="Raleway"/>
                <a:sym typeface="Raleway"/>
              </a:rPr>
              <a:t>6CS030-Big Data</a:t>
            </a:r>
            <a:endParaRPr b="1" sz="4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2045924" y="3297100"/>
            <a:ext cx="4948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300">
                <a:solidFill>
                  <a:schemeClr val="dk2"/>
                </a:solidFill>
              </a:rPr>
              <a:t>Introduction to Big Data 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Module Assessments</a:t>
            </a:r>
            <a:endParaRPr b="1" i="0" sz="2600" u="none" cap="none" strike="noStrik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93" name="Google Shape;93;p4"/>
          <p:cNvGraphicFramePr/>
          <p:nvPr/>
        </p:nvGraphicFramePr>
        <p:xfrm>
          <a:off x="839175" y="193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{ECF5F734-12E6-48DD-A3F7-042E4C066137}</a:tableStyleId>
              </a:tblPr>
              <a:tblGrid>
                <a:gridCol w="2488550"/>
                <a:gridCol w="2488550"/>
                <a:gridCol w="24885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ASSESSMENT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 COVERAGE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23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Coursework 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Implementation based research work involving handling and analysing of big data in your interest specific subject domain.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Report (80%)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Code (20%) out of total 70%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1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Timed Constrained Assessment.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MCQ Exam based on Big Data subjects covered over the weeks.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30%</a:t>
                      </a:r>
                      <a:endParaRPr b="1"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1155425" y="4199275"/>
            <a:ext cx="3888600" cy="36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the term </a:t>
            </a:r>
            <a:r>
              <a:rPr lang="en">
                <a:solidFill>
                  <a:srgbClr val="6AA84F"/>
                </a:solidFill>
              </a:rPr>
              <a:t>Big </a:t>
            </a:r>
            <a:r>
              <a:rPr lang="en"/>
              <a:t>Data?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654900" y="1904925"/>
            <a:ext cx="5805600" cy="2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Because its data that is </a:t>
            </a:r>
            <a:r>
              <a:rPr b="1" lang="en" sz="1500">
                <a:solidFill>
                  <a:schemeClr val="dk2"/>
                </a:solidFill>
              </a:rPr>
              <a:t>higher in volume as its </a:t>
            </a:r>
            <a:r>
              <a:rPr lang="en" sz="1500">
                <a:solidFill>
                  <a:schemeClr val="dk2"/>
                </a:solidFill>
              </a:rPr>
              <a:t>exponentially growing </a:t>
            </a:r>
            <a:r>
              <a:rPr b="1" lang="en" sz="1500">
                <a:solidFill>
                  <a:schemeClr val="dk2"/>
                </a:solidFill>
              </a:rPr>
              <a:t>&amp; complex in nature</a:t>
            </a:r>
            <a:r>
              <a:rPr lang="en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Given the nature, it gets difficult to be handled using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Traditional Data Management Tools.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Example : Excel, RDMS management systems.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500">
                <a:solidFill>
                  <a:schemeClr val="dk2"/>
                </a:solidFill>
              </a:rPr>
              <a:t>Some Examples : </a:t>
            </a:r>
            <a:endParaRPr b="1"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Data Ingested in Popular Social Media Platforms.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i="1" lang="en" sz="1500">
                <a:solidFill>
                  <a:srgbClr val="4A86E8"/>
                </a:solidFill>
              </a:rPr>
              <a:t>But what makes it Big Data and not just Data ?</a:t>
            </a:r>
            <a:r>
              <a:rPr i="1" lang="en" sz="1500"/>
              <a:t> </a:t>
            </a:r>
            <a:endParaRPr i="1" sz="1500"/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10112"/>
          <a:stretch/>
        </p:blipFill>
        <p:spPr>
          <a:xfrm>
            <a:off x="5595425" y="2459950"/>
            <a:ext cx="3257550" cy="22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6727175" y="4422925"/>
            <a:ext cx="646200" cy="43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b="1" i="0" sz="13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587750" y="2699300"/>
            <a:ext cx="1091400" cy="43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BIG DATA</a:t>
            </a:r>
            <a:endParaRPr b="1" i="0" sz="13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f4fe5ea4f_0_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VS. SMALL DATA</a:t>
            </a:r>
            <a:endParaRPr/>
          </a:p>
        </p:txBody>
      </p:sp>
      <p:pic>
        <p:nvPicPr>
          <p:cNvPr id="109" name="Google Shape;109;g3bf4fe5ea4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50" y="1984450"/>
            <a:ext cx="839574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f4fe5ea4f_0_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LIFE CYCLE</a:t>
            </a:r>
            <a:endParaRPr/>
          </a:p>
        </p:txBody>
      </p:sp>
      <p:pic>
        <p:nvPicPr>
          <p:cNvPr id="115" name="Google Shape;115;g3bf4fe5ea4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800" y="1853850"/>
            <a:ext cx="6574649" cy="30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CHARACTERISTICS OF BIG DATA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429000" y="2037525"/>
            <a:ext cx="22860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5Vs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79300" y="2573700"/>
            <a:ext cx="16614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Volume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605125" y="4315175"/>
            <a:ext cx="16614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Velocity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741300" y="3364700"/>
            <a:ext cx="16614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Variety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314175" y="4216500"/>
            <a:ext cx="16614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Veracity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303300" y="2817100"/>
            <a:ext cx="1661400" cy="621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7" name="Google Shape;127;p6"/>
          <p:cNvCxnSpPr>
            <a:stCxn id="121" idx="2"/>
            <a:endCxn id="124" idx="0"/>
          </p:cNvCxnSpPr>
          <p:nvPr/>
        </p:nvCxnSpPr>
        <p:spPr>
          <a:xfrm>
            <a:off x="4572000" y="2658825"/>
            <a:ext cx="0" cy="70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6"/>
          <p:cNvCxnSpPr/>
          <p:nvPr/>
        </p:nvCxnSpPr>
        <p:spPr>
          <a:xfrm flipH="1">
            <a:off x="2840700" y="2877900"/>
            <a:ext cx="1731300" cy="1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6"/>
          <p:cNvCxnSpPr>
            <a:endCxn id="123" idx="0"/>
          </p:cNvCxnSpPr>
          <p:nvPr/>
        </p:nvCxnSpPr>
        <p:spPr>
          <a:xfrm flipH="1">
            <a:off x="3435825" y="2890775"/>
            <a:ext cx="23100" cy="142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6"/>
          <p:cNvCxnSpPr/>
          <p:nvPr/>
        </p:nvCxnSpPr>
        <p:spPr>
          <a:xfrm flipH="1">
            <a:off x="4572000" y="3121300"/>
            <a:ext cx="1731300" cy="1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6"/>
          <p:cNvCxnSpPr>
            <a:endCxn id="125" idx="0"/>
          </p:cNvCxnSpPr>
          <p:nvPr/>
        </p:nvCxnSpPr>
        <p:spPr>
          <a:xfrm>
            <a:off x="6120875" y="3141300"/>
            <a:ext cx="24000" cy="107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VOLUME 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729450" y="2078875"/>
            <a:ext cx="4049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The amount of data generated  every second.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Its volume ranges from Petabytes to Zettabytes or Exabytes.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High volume leads to high system configuration to process this volume for effectiveness.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3675" y="1746225"/>
            <a:ext cx="3696375" cy="27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VARIETY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727650" y="2052700"/>
            <a:ext cx="30639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Big Data unlike traditional structured format can come in many forms.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Given the variety of dataset it can be </a:t>
            </a:r>
            <a:r>
              <a:rPr b="1" lang="en" sz="1500">
                <a:solidFill>
                  <a:schemeClr val="dk2"/>
                </a:solidFill>
              </a:rPr>
              <a:t>heterogeneous, complex, incompatible.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en" sz="1500">
                <a:solidFill>
                  <a:schemeClr val="dk2"/>
                </a:solidFill>
              </a:rPr>
              <a:t>It is also variable in nature.</a:t>
            </a:r>
            <a:endParaRPr b="1"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450" y="1425050"/>
            <a:ext cx="4814978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729450" y="2078875"/>
            <a:ext cx="44202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It refers to the benefits the retrieved data can provide. 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The value of big data is related to the </a:t>
            </a:r>
            <a:r>
              <a:rPr b="1" lang="en">
                <a:solidFill>
                  <a:schemeClr val="dk2"/>
                </a:solidFill>
              </a:rPr>
              <a:t>amount of insights</a:t>
            </a:r>
            <a:r>
              <a:rPr lang="en">
                <a:solidFill>
                  <a:schemeClr val="dk2"/>
                </a:solidFill>
              </a:rPr>
              <a:t> that can be gained from it.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It is also measured with an estimation made based on the positive impacts it helps to bring in a subject.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375" y="1496775"/>
            <a:ext cx="3427150" cy="1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VELOCITY</a:t>
            </a:r>
            <a:endParaRPr/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This refers to the rate at which the data is being generated or renewed.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And at what rate it moves from various source to data repositories. 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Larger Velocity refers to high volume of data and an effective measure for managing massive volumes of data.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High velocity of the data demands adequate processing strategies for timely insight generation.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3431775"/>
            <a:ext cx="600075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VERACITY</a:t>
            </a:r>
            <a:endParaRPr/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729450" y="2078875"/>
            <a:ext cx="35412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Char char="●"/>
            </a:pPr>
            <a:r>
              <a:rPr lang="en">
                <a:solidFill>
                  <a:srgbClr val="1A1A1A"/>
                </a:solidFill>
              </a:rPr>
              <a:t>It refers to the </a:t>
            </a:r>
            <a:r>
              <a:rPr b="1" lang="en">
                <a:solidFill>
                  <a:srgbClr val="1A1A1A"/>
                </a:solidFill>
              </a:rPr>
              <a:t>certainty or reliability </a:t>
            </a:r>
            <a:r>
              <a:rPr lang="en">
                <a:solidFill>
                  <a:srgbClr val="1A1A1A"/>
                </a:solidFill>
              </a:rPr>
              <a:t>factor of a data. </a:t>
            </a:r>
            <a:endParaRPr>
              <a:solidFill>
                <a:srgbClr val="1A1A1A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Char char="●"/>
            </a:pPr>
            <a:r>
              <a:rPr lang="en">
                <a:solidFill>
                  <a:srgbClr val="1A1A1A"/>
                </a:solidFill>
              </a:rPr>
              <a:t>The </a:t>
            </a:r>
            <a:r>
              <a:rPr b="1" lang="en">
                <a:solidFill>
                  <a:srgbClr val="1A1A1A"/>
                </a:solidFill>
              </a:rPr>
              <a:t>accuracy </a:t>
            </a:r>
            <a:r>
              <a:rPr lang="en">
                <a:solidFill>
                  <a:srgbClr val="1A1A1A"/>
                </a:solidFill>
              </a:rPr>
              <a:t>with which it represents the real-world scenarios play an important role.</a:t>
            </a:r>
            <a:endParaRPr>
              <a:solidFill>
                <a:srgbClr val="1A1A1A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Char char="●"/>
            </a:pPr>
            <a:r>
              <a:rPr lang="en">
                <a:solidFill>
                  <a:srgbClr val="1A1A1A"/>
                </a:solidFill>
              </a:rPr>
              <a:t>With data changing every millisecond, it is important that it is obeys the </a:t>
            </a:r>
            <a:r>
              <a:rPr b="1" lang="en">
                <a:solidFill>
                  <a:srgbClr val="1A1A1A"/>
                </a:solidFill>
              </a:rPr>
              <a:t>timeliness </a:t>
            </a:r>
            <a:r>
              <a:rPr lang="en">
                <a:solidFill>
                  <a:srgbClr val="1A1A1A"/>
                </a:solidFill>
              </a:rPr>
              <a:t>too. (Upto date data) .</a:t>
            </a:r>
            <a:endParaRPr>
              <a:solidFill>
                <a:srgbClr val="1A1A1A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Char char="●"/>
            </a:pPr>
            <a:r>
              <a:rPr lang="en">
                <a:solidFill>
                  <a:srgbClr val="1A1A1A"/>
                </a:solidFill>
              </a:rPr>
              <a:t>Noise in data affects its veracity.</a:t>
            </a:r>
            <a:endParaRPr>
              <a:solidFill>
                <a:srgbClr val="1A1A1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rgbClr val="1A1A1A"/>
              </a:solidFill>
            </a:endParaRPr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3050" y="2006250"/>
            <a:ext cx="4568550" cy="227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Statistics </a:t>
            </a:r>
            <a:endParaRPr/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9815"/>
              <a:buNone/>
            </a:pPr>
            <a:r>
              <a:rPr b="1" lang="en" sz="1408">
                <a:solidFill>
                  <a:srgbClr val="0000FF"/>
                </a:solidFill>
              </a:rPr>
              <a:t>45%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of IT professionals anticipate the usage of several technologies-including 5G, edge computing and machine learning to manage data. (Dell Technologies)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>
                <a:solidFill>
                  <a:schemeClr val="dk2"/>
                </a:solidFill>
              </a:rPr>
              <a:t>Netflix saves </a:t>
            </a:r>
            <a:r>
              <a:rPr b="1" lang="en">
                <a:solidFill>
                  <a:srgbClr val="0000FF"/>
                </a:solidFill>
              </a:rPr>
              <a:t>$1 Billion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per year with the usage of Big Data for extraordinary customer retention.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0000FF"/>
                </a:solidFill>
              </a:rPr>
              <a:t>70% </a:t>
            </a:r>
            <a:r>
              <a:rPr lang="en">
                <a:solidFill>
                  <a:schemeClr val="dk2"/>
                </a:solidFill>
              </a:rPr>
              <a:t>of the world’s data is user-generated.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0000FF"/>
                </a:solidFill>
              </a:rPr>
              <a:t>~570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new websites spring into existence every minute every day.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>
                <a:solidFill>
                  <a:schemeClr val="dk2"/>
                </a:solidFill>
              </a:rPr>
              <a:t>Google alone processes </a:t>
            </a:r>
            <a:r>
              <a:rPr b="1" lang="en">
                <a:solidFill>
                  <a:srgbClr val="0000FF"/>
                </a:solidFill>
              </a:rPr>
              <a:t>40k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search queries per second.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0000FF"/>
                </a:solidFill>
              </a:rPr>
              <a:t>~100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hours of videos are uploaded to Youtube every minute.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">
                <a:solidFill>
                  <a:schemeClr val="dk2"/>
                </a:solidFill>
              </a:rPr>
              <a:t>More data has been created in the past 2 years than the entire previous history of human kinds.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APPLICATION IN HEALTHCARE</a:t>
            </a:r>
            <a:endParaRPr/>
          </a:p>
        </p:txBody>
      </p:sp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875" y="1921225"/>
            <a:ext cx="5239482" cy="32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APPLICATIONS IN MANUFACTURING</a:t>
            </a:r>
            <a:endParaRPr/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2025" y="1807375"/>
            <a:ext cx="6217785" cy="3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APPLICATIONS IN AIRLINES </a:t>
            </a:r>
            <a:endParaRPr/>
          </a:p>
        </p:txBody>
      </p:sp>
      <p:pic>
        <p:nvPicPr>
          <p:cNvPr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1057" r="0" t="6138"/>
          <a:stretch/>
        </p:blipFill>
        <p:spPr>
          <a:xfrm>
            <a:off x="1788850" y="1800450"/>
            <a:ext cx="5626675" cy="334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OF BIG DATA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Storage Contrataints  	                                                                                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Scalable Infrastructure</a:t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Real Time Analysis                       </a:t>
            </a:r>
            <a:r>
              <a:rPr lang="en" sz="1500">
                <a:solidFill>
                  <a:srgbClr val="0000FF"/>
                </a:solidFill>
              </a:rPr>
              <a:t>Investing in Real-Time Analytics with tools like Apache Spark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Data Value		     </a:t>
            </a:r>
            <a:r>
              <a:rPr lang="en" sz="1500">
                <a:solidFill>
                  <a:srgbClr val="0000FF"/>
                </a:solidFill>
              </a:rPr>
              <a:t>Data Preprocessing through partitioning, cleaning and memory  management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>
                <a:solidFill>
                  <a:schemeClr val="dk2"/>
                </a:solidFill>
              </a:rPr>
              <a:t>Unproportionate Demand &amp; Talent Ratio		  </a:t>
            </a:r>
            <a:r>
              <a:rPr lang="en" sz="1500">
                <a:solidFill>
                  <a:srgbClr val="0000FF"/>
                </a:solidFill>
              </a:rPr>
              <a:t>Awareness &amp; Education in Big Data Analytics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197" name="Google Shape;197;p16"/>
          <p:cNvCxnSpPr/>
          <p:nvPr/>
        </p:nvCxnSpPr>
        <p:spPr>
          <a:xfrm flipH="1" rot="10800000">
            <a:off x="3147900" y="2276625"/>
            <a:ext cx="21372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6"/>
          <p:cNvCxnSpPr/>
          <p:nvPr/>
        </p:nvCxnSpPr>
        <p:spPr>
          <a:xfrm flipH="1" rot="10800000">
            <a:off x="2545200" y="2706600"/>
            <a:ext cx="6027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16"/>
          <p:cNvCxnSpPr/>
          <p:nvPr/>
        </p:nvCxnSpPr>
        <p:spPr>
          <a:xfrm flipH="1" rot="10800000">
            <a:off x="1942500" y="3133275"/>
            <a:ext cx="6027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6"/>
          <p:cNvCxnSpPr/>
          <p:nvPr/>
        </p:nvCxnSpPr>
        <p:spPr>
          <a:xfrm flipH="1" rot="10800000">
            <a:off x="4348375" y="3785150"/>
            <a:ext cx="6027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TOOLS &amp; TECHNOLOGIES USED IN BIG DATA</a:t>
            </a:r>
            <a:endParaRPr/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634" y="1853850"/>
            <a:ext cx="6490390" cy="3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175" y="1973425"/>
            <a:ext cx="1255225" cy="12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373" y="3158248"/>
            <a:ext cx="833425" cy="8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9224" y="3807650"/>
            <a:ext cx="1294400" cy="10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Big Data Ecosystem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39275" y="2201375"/>
            <a:ext cx="8122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 Technologies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(Hadoop, HDFS, MapReduce,Spark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Analysis and Visualization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(Tableau, Apache Pig,TeraData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Business intelligence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(PowerBI, Business Objects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NoSQL databases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(MongoDB, CouchDB, Redis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Programming Tools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(R, Python, SQL,Julia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AutoNum type="arabicPeriod"/>
            </a:pPr>
            <a:r>
              <a:rPr lang="en"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Cloud Service Providers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(AWS, IBM, GCP, Oracle etc.)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f4fe5ea4f_0_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Growth in Global Data</a:t>
            </a:r>
            <a:endParaRPr/>
          </a:p>
        </p:txBody>
      </p:sp>
      <p:pic>
        <p:nvPicPr>
          <p:cNvPr id="221" name="Google Shape;221;g3bf4fe5ea4f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925" y="1977175"/>
            <a:ext cx="420015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f4fe5ea4f_0_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CAREERS WITH BIG DATA ANALYTICS</a:t>
            </a:r>
            <a:endParaRPr/>
          </a:p>
        </p:txBody>
      </p:sp>
      <p:pic>
        <p:nvPicPr>
          <p:cNvPr id="227" name="Google Shape;227;g3bf4fe5ea4f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775" y="1906200"/>
            <a:ext cx="7058651" cy="30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2088375" y="2613625"/>
            <a:ext cx="57201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So, what’s up for workshop this week?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Remember Python ?</a:t>
            </a:r>
            <a:endParaRPr/>
          </a:p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2">
                <a:solidFill>
                  <a:srgbClr val="1A1A1A"/>
                </a:solidFill>
              </a:rPr>
              <a:t>We will explore Python for data handling and explore its use cases because Python provides following benefits in Big Data</a:t>
            </a:r>
            <a:endParaRPr sz="1402">
              <a:solidFill>
                <a:srgbClr val="1A1A1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02">
                <a:solidFill>
                  <a:srgbClr val="0000FF"/>
                </a:solidFill>
              </a:rPr>
              <a:t>Ease of Use : </a:t>
            </a:r>
            <a:r>
              <a:rPr lang="en" sz="1402">
                <a:solidFill>
                  <a:srgbClr val="1A1A1A"/>
                </a:solidFill>
              </a:rPr>
              <a:t>First things first, its super easy and comprehensible</a:t>
            </a:r>
            <a:endParaRPr sz="1402">
              <a:solidFill>
                <a:srgbClr val="1A1A1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02">
                <a:solidFill>
                  <a:srgbClr val="0000FF"/>
                </a:solidFill>
              </a:rPr>
              <a:t>Rich Ecosystem : </a:t>
            </a:r>
            <a:r>
              <a:rPr lang="en" sz="1402">
                <a:solidFill>
                  <a:srgbClr val="1A1A1A"/>
                </a:solidFill>
              </a:rPr>
              <a:t>Diverse libraries for handling data kinds and situations. Example : PyMongo, Pyspark. </a:t>
            </a:r>
            <a:endParaRPr sz="1402">
              <a:solidFill>
                <a:srgbClr val="1A1A1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02">
                <a:solidFill>
                  <a:srgbClr val="0000FF"/>
                </a:solidFill>
              </a:rPr>
              <a:t>Flexible Integration : </a:t>
            </a:r>
            <a:r>
              <a:rPr lang="en" sz="1402">
                <a:solidFill>
                  <a:srgbClr val="1A1A1A"/>
                </a:solidFill>
              </a:rPr>
              <a:t>Its rich ecosystem allows its integration with variable data pipelines and databases envs.</a:t>
            </a:r>
            <a:endParaRPr sz="1402">
              <a:solidFill>
                <a:srgbClr val="1A1A1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02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